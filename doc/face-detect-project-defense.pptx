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9601200" y="0"/>
            <a:ext cx="2590495" cy="2286000"/>
          </a:xfrm>
          <a:prstGeom prst="rtTriangl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20116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多人脸采集素材
自动化清洗系统</a:t>
            </a:r>
            <a:endParaRPr sz="4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0">
                <a:solidFill>
                  <a:srgbClr val="3B82F6"/>
                </a:solidFill>
                <a:latin typeface="Calibri" panose="020F0502020204030204"/>
                <a:ea typeface="微软雅黑" panose="020B0503020204020204" charset="-122"/>
              </a:rPr>
              <a:t>车内多人脸图片自动检测 · 人员匹配 · 座位分类 · 标注可视化</a:t>
            </a:r>
            <a:endParaRPr sz="1800" b="0">
              <a:solidFill>
                <a:srgbClr val="3B82F6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4846320"/>
            <a:ext cx="6858000" cy="1097280"/>
          </a:xfrm>
          <a:prstGeom prst="rect">
            <a:avLst/>
          </a:prstGeom>
          <a:solidFill>
            <a:srgbClr val="0A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8348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第五组  ·  软件开发实践3</a:t>
            </a:r>
            <a:endParaRPr sz="14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539496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3B82F6"/>
                </a:solidFill>
                <a:latin typeface="Calibri" panose="020F0502020204030204"/>
                <a:ea typeface="微软雅黑" panose="020B0503020204020204" charset="-122"/>
              </a:rPr>
              <a:t>组长：彭仁希  |  组员：王启炀 余野 于枫硕 侯贺升 吴迪</a:t>
            </a:r>
            <a:endParaRPr sz="1200" b="0">
              <a:solidFill>
                <a:srgbClr val="3B82F6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100" b="0">
                <a:solidFill>
                  <a:srgbClr val="3B82F6"/>
                </a:solidFill>
                <a:latin typeface="Calibri" panose="020F0502020204030204"/>
                <a:ea typeface="微软雅黑" panose="020B0503020204020204" charset="-122"/>
              </a:rPr>
              <a:t>2026年7月  ·  答辩汇报</a:t>
            </a:r>
            <a:endParaRPr sz="1100" b="0">
              <a:solidFill>
                <a:srgbClr val="3B82F6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项目背景与目标</a:t>
            </a:r>
            <a:endParaRPr sz="2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828800" cy="32004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多人脸采集素材自动化清洗系统 · 第五组答辩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2 / 12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项目背景</a:t>
            </a:r>
            <a:endParaRPr sz="1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486400" cy="3200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spcAft>
                <a:spcPts val="840"/>
              </a:spcAft>
            </a:pPr>
            <a:r>
              <a:rPr sz="14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在移动端或 Web 页面上传车内多人脸图片，</a:t>
            </a:r>
            <a:endParaRPr sz="14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840"/>
              </a:spcAft>
            </a:pPr>
            <a:r>
              <a:rPr sz="14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系统自动获取每个人的人脸框坐标、人员 ID</a:t>
            </a:r>
            <a:endParaRPr sz="14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840"/>
              </a:spcAft>
            </a:pPr>
            <a:r>
              <a:rPr sz="14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和座位位置，并在图片上标注显示。</a:t>
            </a:r>
            <a:endParaRPr sz="14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840"/>
              </a:spcAft>
            </a:pPr>
          </a:p>
          <a:p>
            <a:pPr algn="l">
              <a:spcAft>
                <a:spcPts val="840"/>
              </a:spcAft>
            </a:pPr>
            <a:r>
              <a:rPr sz="14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课题要求实现一个从图片上传到结果交付的</a:t>
            </a:r>
            <a:endParaRPr sz="14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840"/>
              </a:spcAft>
            </a:pPr>
            <a:r>
              <a:rPr sz="14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全链路自动化流程，覆盖检测、匹配、分类</a:t>
            </a:r>
            <a:endParaRPr sz="14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840"/>
              </a:spcAft>
            </a:pPr>
            <a:r>
              <a:rPr sz="14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和可视化标注四个环节。</a:t>
            </a:r>
            <a:endParaRPr sz="14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核心目标</a:t>
            </a:r>
            <a:endParaRPr sz="1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0" y="1965960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20840" y="207568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075688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人脸检测</a:t>
            </a:r>
            <a:endParaRPr sz="15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43800" y="2404872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准确检测车内多人脸，返回框坐标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0" y="2971800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40" y="308152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081528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43800" y="306324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人员匹配</a:t>
            </a:r>
            <a:endParaRPr sz="15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43800" y="3410712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跨图片匹配同一人，分配统一 ID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0" y="3977639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20840" y="408736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087368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43800" y="4069079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座位分类</a:t>
            </a:r>
            <a:endParaRPr sz="15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43800" y="4416552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自动判断主驾/副驾/后排左中右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0" y="4983480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20840" y="5093208"/>
            <a:ext cx="640080" cy="64008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5093208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4</a:t>
            </a:r>
            <a:endParaRPr sz="2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43800" y="507492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标注可视化</a:t>
            </a:r>
            <a:endParaRPr sz="15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43800" y="5422392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在图片上标注结果并支持导出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需求分析</a:t>
            </a:r>
            <a:endParaRPr sz="2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828800" cy="32004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多人脸采集素材自动化清洗系统 · 第五组答辩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3 / 12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03520" cy="4572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50292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功能需求 (FR)</a:t>
            </a:r>
            <a:endParaRPr sz="1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▸</a:t>
            </a:r>
            <a:endParaRPr sz="14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FR-01: 单张图片人脸检测</a:t>
            </a:r>
            <a:endParaRPr sz="13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▸</a:t>
            </a:r>
            <a:endParaRPr sz="14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633472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FR-02: 批量图片人脸检测</a:t>
            </a:r>
            <a:endParaRPr sz="13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163824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▸</a:t>
            </a:r>
            <a:endParaRPr sz="14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3163824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FR-03: 跨图片人员匹配</a:t>
            </a:r>
            <a:endParaRPr sz="13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694175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▸</a:t>
            </a:r>
            <a:endParaRPr sz="14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3694175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FR-04: 座位位置分类</a:t>
            </a:r>
            <a:endParaRPr sz="13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7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▸</a:t>
            </a:r>
            <a:endParaRPr sz="14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4224527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FR-05: 标注结果图片生成</a:t>
            </a:r>
            <a:endParaRPr sz="13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79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▸</a:t>
            </a:r>
            <a:endParaRPr sz="14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79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FR-06: 移动端适配支持</a:t>
            </a:r>
            <a:endParaRPr sz="13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1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▸</a:t>
            </a:r>
            <a:endParaRPr sz="14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5285231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FR-07: API 接口服务</a:t>
            </a:r>
            <a:endParaRPr sz="13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09360" y="1417320"/>
            <a:ext cx="5303520" cy="4572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F59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417320"/>
            <a:ext cx="5303520" cy="50292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463040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非功能需求 (NFR)</a:t>
            </a:r>
            <a:endParaRPr sz="1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92240" y="2103120"/>
            <a:ext cx="16459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准确性</a:t>
            </a:r>
            <a:endParaRPr sz="13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0" y="210312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人脸检测准确率 ≥ 90%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2724912"/>
            <a:ext cx="16459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实时性</a:t>
            </a:r>
            <a:endParaRPr sz="13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0" y="2724912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单张图片处理 ≤ 5 秒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2240" y="3346704"/>
            <a:ext cx="16459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可用性</a:t>
            </a:r>
            <a:endParaRPr sz="13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600" y="3346704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支持无 GPU 环境降级运行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92240" y="3968496"/>
            <a:ext cx="16459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兼容性</a:t>
            </a:r>
            <a:endParaRPr sz="13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0" y="3968496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Web + Android 双端覆盖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2240" y="4590288"/>
            <a:ext cx="16459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可部署性</a:t>
            </a:r>
            <a:endParaRPr sz="13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29600" y="4590288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Nginx 反向代理共享 80 端口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92240" y="5212080"/>
            <a:ext cx="16459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可维护性</a:t>
            </a:r>
            <a:endParaRPr sz="13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600" y="521208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模块化设计，低耦合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系统架构设计</a:t>
            </a:r>
            <a:endParaRPr sz="2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828800" cy="32004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多人脸采集素材自动化清洗系统 · 第五组答辩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4 / 12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7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前端层</a:t>
            </a:r>
            <a:endParaRPr sz="1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91840" y="1664207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HTML5 + CSS3 + Vanilla JS</a:t>
            </a:r>
            <a:endParaRPr sz="1400" b="0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0" y="2029967"/>
            <a:ext cx="7772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D0D8E8"/>
                </a:solidFill>
                <a:latin typeface="Calibri" panose="020F0502020204030204"/>
                <a:ea typeface="微软雅黑" panose="020B0503020204020204" charset="-122"/>
              </a:rPr>
              <a:t>单张检测 / 批量清洗 / 配网页面</a:t>
            </a:r>
            <a:endParaRPr sz="1200" b="0">
              <a:solidFill>
                <a:srgbClr val="D0D8E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0" y="246888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↓</a:t>
            </a:r>
            <a:endParaRPr sz="1600" b="1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07208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后端服务</a:t>
            </a:r>
            <a:endParaRPr sz="1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91840" y="2807208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FastAPI + Uvicorn</a:t>
            </a:r>
            <a:endParaRPr sz="1400" b="0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91840" y="3172968"/>
            <a:ext cx="7772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D0D8E8"/>
                </a:solidFill>
                <a:latin typeface="Calibri" panose="020F0502020204030204"/>
                <a:ea typeface="微软雅黑" panose="020B0503020204020204" charset="-122"/>
              </a:rPr>
              <a:t>检测 / 匹配 / 分类 / 标注 / API</a:t>
            </a:r>
            <a:endParaRPr sz="1200" b="0">
              <a:solidFill>
                <a:srgbClr val="D0D8E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0" y="361188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↓</a:t>
            </a:r>
            <a:endParaRPr sz="1600" b="1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50208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AI 引擎</a:t>
            </a:r>
            <a:endParaRPr sz="1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91840" y="3950208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YOLOv8-face + InsightFace</a:t>
            </a:r>
            <a:endParaRPr sz="1400" b="0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91840" y="4315968"/>
            <a:ext cx="7772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D0D8E8"/>
                </a:solidFill>
                <a:latin typeface="Calibri" panose="020F0502020204030204"/>
                <a:ea typeface="微软雅黑" panose="020B0503020204020204" charset="-122"/>
              </a:rPr>
              <a:t>人脸检测 + ArcFace 特征匹配</a:t>
            </a:r>
            <a:endParaRPr sz="1200" b="0">
              <a:solidFill>
                <a:srgbClr val="D0D8E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0" y="475488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↓</a:t>
            </a:r>
            <a:endParaRPr sz="1600" b="1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93208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客户端</a:t>
            </a:r>
            <a:endParaRPr sz="1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91840" y="5093208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Android WebView + JsBridge</a:t>
            </a:r>
            <a:endParaRPr sz="1400" b="0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91840" y="5458968"/>
            <a:ext cx="7772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D0D8E8"/>
                </a:solidFill>
                <a:latin typeface="Calibri" panose="020F0502020204030204"/>
                <a:ea typeface="微软雅黑" panose="020B0503020204020204" charset="-122"/>
              </a:rPr>
              <a:t>原生封装 / 扫码配网 / 拍照上传</a:t>
            </a:r>
            <a:endParaRPr sz="1200" b="0">
              <a:solidFill>
                <a:srgbClr val="D0D8E8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四层架构：前端 → 后端 → AI 引擎 → 移动客户端，通过 HTTP API 和 JsBridge 串联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核心技术一：人脸检测引擎</a:t>
            </a:r>
            <a:endParaRPr sz="2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828800" cy="32004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多人脸采集素材自动化清洗系统 · 第五组答辩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5 / 12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主模型：YOLOv8-face</a:t>
            </a:r>
            <a:endParaRPr sz="15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93776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lindevs/pt 权重，仅 6MB 轻量部署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置信度阈值 0.1，召回率优先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CPU 推理，无需 GPU 环境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结果按 X 坐标从左到右排序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5303520" cy="457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44752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Fallback：Haar Cascade</a:t>
            </a:r>
            <a:endParaRPr sz="15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937760" cy="16459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OpenCV 内置，零额外依赖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无 GPU 或模型缺失时自动切换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面积占比映射为伪置信度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映射范围 0.5 ~ 0.99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双后端 Fallback 架构</a:t>
            </a:r>
            <a:endParaRPr sz="16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691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输入图片</a:t>
            </a:r>
            <a:endParaRPr sz="1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21992" y="49377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1800" b="1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77440" y="457200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754880"/>
            <a:ext cx="1691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检测引擎</a:t>
            </a:r>
            <a:endParaRPr sz="1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50792" y="49377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1800" b="1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06240" y="457200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4754880"/>
            <a:ext cx="1691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YOLOv8</a:t>
            </a:r>
            <a:endParaRPr sz="1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06240" y="5166360"/>
            <a:ext cx="1691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可用?</a:t>
            </a:r>
            <a:endParaRPr sz="1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79592" y="49377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1800" b="1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35040" y="457200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754880"/>
            <a:ext cx="1691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YOLOv8</a:t>
            </a:r>
            <a:endParaRPr sz="1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35040" y="5166360"/>
            <a:ext cx="1691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检测</a:t>
            </a:r>
            <a:endParaRPr sz="1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08392" y="49377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1800" b="1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863840" y="457200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754880"/>
            <a:ext cx="1691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Haar</a:t>
            </a:r>
            <a:endParaRPr sz="1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63840" y="5166360"/>
            <a:ext cx="1691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Fallback</a:t>
            </a:r>
            <a:endParaRPr sz="1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537192" y="4937760"/>
            <a:ext cx="1828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1800" b="1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692640" y="4572000"/>
            <a:ext cx="1691640" cy="118872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4754880"/>
            <a:ext cx="1691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检测结果</a:t>
            </a:r>
            <a:endParaRPr sz="1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核心技术二：人脸特征匹配</a:t>
            </a:r>
            <a:endParaRPr sz="2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828800" cy="32004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多人脸采集素材自动化清洗系统 · 第五组答辩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6 / 12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03520" cy="4572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InsightFace ArcFace</a:t>
            </a:r>
            <a:endParaRPr sz="1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4937760" cy="3840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buffalo_l 模型，CPU 模式运行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提取 512 维归一化特征向量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人脸框 20% 边框扩展后裁剪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余弦相似度直接点积计算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阈值 0.5 判定同一人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跨图匹配流程：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1. 维护 person_db（ID → 向量列表）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2. 逐图遍历，每张新人脸与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   所有已知向量比对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3. 最高相似度 ≥ 阈值 → 归为同一人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4. 否则分配新的 person_id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303520" cy="4572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F59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5303520" cy="50292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Fallback：像素特征</a:t>
            </a:r>
            <a:endParaRPr sz="1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4937760" cy="3840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InsightFace 不可用时自动降级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16×16 灰度直方图特征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直方图均衡化增强对比度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L2 归一化后计算相似度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256 维向量，轻量高效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降级策略优势：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保证系统在任意环境可用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无需额外模型下载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适合低算力边缘设备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仍能提供基本匹配能力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默认关闭识别 (use_recognition=False)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此时 person_id 为每图内顺序编号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核心创新：自适应座位分类算法</a:t>
            </a:r>
            <a:endParaRPr sz="2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828800" cy="32004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多人脸采集素材自动化清洗系统 · 第五组答辩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7 / 12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0" y="411480"/>
            <a:ext cx="2926080" cy="411480"/>
          </a:xfrm>
          <a:prstGeom prst="roundRect">
            <a:avLst>
              <a:gd name="adj" fmla="val 6000"/>
            </a:avLst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★ 核心创新点</a:t>
            </a:r>
            <a:endParaRPr sz="13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纯规则引擎，无需训练模型，可解释、部署轻量</a:t>
            </a:r>
            <a:endParaRPr sz="14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10312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205740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单脸策略</a:t>
            </a:r>
            <a:endParaRPr sz="14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17320" y="2377440"/>
            <a:ext cx="44805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宽度 &gt; 图宽 8% 或面积 &gt; 1% 且位于下半部 → 前排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10896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0896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4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双脸策略</a:t>
            </a:r>
            <a:endParaRPr sz="14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7320" y="3383280"/>
            <a:ext cx="44805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Y 坐标跨度 &gt; 0.12 或平均宽度 &gt; 0.08 → 前排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114800"/>
            <a:ext cx="594360" cy="59436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1480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7320" y="4069079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3+ 脸策略</a:t>
            </a:r>
            <a:endParaRPr sz="14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4389120"/>
            <a:ext cx="44805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综合评分 + 宽度聚类找间隙 + K-means K=2 聚类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座位区域定义</a:t>
            </a:r>
            <a:endParaRPr sz="16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766560" y="20116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194560"/>
            <a:ext cx="14630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后排左</a:t>
            </a:r>
            <a:endParaRPr sz="13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321040" y="20116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194560"/>
            <a:ext cx="14630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后排中</a:t>
            </a:r>
            <a:endParaRPr sz="13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875520" y="20116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194560"/>
            <a:ext cx="14630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后排右</a:t>
            </a:r>
            <a:endParaRPr sz="13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875520" y="306324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3246120"/>
            <a:ext cx="14630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主驾</a:t>
            </a:r>
            <a:endParaRPr sz="13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766560" y="306324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246120"/>
            <a:ext cx="14630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副驾</a:t>
            </a:r>
            <a:endParaRPr sz="13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321040" y="306324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246120"/>
            <a:ext cx="14630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中空</a:t>
            </a:r>
            <a:endParaRPr sz="13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83680" y="4206240"/>
            <a:ext cx="5029200" cy="1920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297680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前排候选评分公式</a:t>
            </a:r>
            <a:endParaRPr sz="14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66560" y="4709160"/>
            <a:ext cx="466344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score = 侧位(0.35) + 宽度(0.45)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      + 面积(0.20) + Y坐标(0.12)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宽度权重最高（45%）— 前排人脸显著大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20"/>
              </a:spcAft>
            </a:pPr>
            <a:r>
              <a:rPr sz="12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侧位权重次之（35%）— 靠窗位置更靠前</a:t>
            </a:r>
            <a:endParaRPr sz="12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处理流程与数据流</a:t>
            </a:r>
            <a:endParaRPr sz="2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828800" cy="32004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多人脸采集素材自动化清洗系统 · 第五组答辩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8 / 12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148840" cy="2377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148840" cy="50292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1. 人脸检测</a:t>
            </a:r>
            <a:endParaRPr sz="14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detector.py</a:t>
            </a:r>
            <a:endParaRPr sz="11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1874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YOLOv8 / Haar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1874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检测所有人脸框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1760" y="2468880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20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20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80360" y="1645920"/>
            <a:ext cx="2148840" cy="2377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1645920"/>
            <a:ext cx="2148840" cy="50292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169164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2. 特征提取</a:t>
            </a:r>
            <a:endParaRPr sz="14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80360" y="2240280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recognizer.py</a:t>
            </a:r>
            <a:endParaRPr sz="11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17520" y="2651760"/>
            <a:ext cx="1874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ArcFace / 直方图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7520" y="3017520"/>
            <a:ext cx="1874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512维向量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83480" y="2468880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20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20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212080" y="1645920"/>
            <a:ext cx="2148840" cy="2377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80" y="1645920"/>
            <a:ext cx="2148840" cy="50292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69164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3. 跨图匹配</a:t>
            </a:r>
            <a:endParaRPr sz="14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12080" y="2240280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recognizer.py</a:t>
            </a:r>
            <a:endParaRPr sz="11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49240" y="2651760"/>
            <a:ext cx="1874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person_db 比对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49240" y="3017520"/>
            <a:ext cx="1874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分配统一 ID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0" y="2468880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20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20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43800" y="1645920"/>
            <a:ext cx="2148840" cy="2377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1645920"/>
            <a:ext cx="2148840" cy="50292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169164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4. 座位分类</a:t>
            </a:r>
            <a:endParaRPr sz="14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43800" y="2240280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seat_classifier.py</a:t>
            </a:r>
            <a:endParaRPr sz="11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80960" y="2651760"/>
            <a:ext cx="1874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规则引擎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80960" y="3017520"/>
            <a:ext cx="1874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K-means 聚类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46919" y="2468880"/>
            <a:ext cx="274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20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→</a:t>
            </a:r>
            <a:endParaRPr sz="20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875520" y="1645920"/>
            <a:ext cx="2148840" cy="2377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75520" y="1645920"/>
            <a:ext cx="2148840" cy="50292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169164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5. 可视化标注</a:t>
            </a:r>
            <a:endParaRPr sz="14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75520" y="2240280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FaceAnnotator</a:t>
            </a:r>
            <a:endParaRPr sz="11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12680" y="2651760"/>
            <a:ext cx="1874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PIL 绘制框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12680" y="3017520"/>
            <a:ext cx="1874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中文标签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000"/>
            </a:avLst>
          </a:prstGeom>
          <a:solidFill>
            <a:srgbClr val="FDF0E6"/>
          </a:solidFill>
          <a:ln w="9525">
            <a:solidFill>
              <a:srgbClr val="F59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批量处理模式</a:t>
            </a:r>
            <a:endParaRPr sz="15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1520" y="5074920"/>
            <a:ext cx="1051560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process_batch()：逐图检测 → 全量收集人脸 → 跨图匹配分配统一 ID → 按图分组 → 分类 + 标注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批量模式下所有图片共享同一个 person_db，确保同一人在不同图片中获得相同 ID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前端与 Android 客户端</a:t>
            </a:r>
            <a:endParaRPr sz="2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828800" cy="32004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多人脸采集素材自动化清洗系统 · 第五组答辩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9 / 12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Web 前端</a:t>
            </a:r>
            <a:endParaRPr sz="1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303520" cy="3931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937760" cy="36576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单文件 SPA，零框架依赖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HTML5 + CSS3 + Vanilla JS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自定义 CSS 设计令牌系统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SVG 绘制车内俯视座位图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拖拽上传 + 点击选择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KPI 仪表盘 + 条形图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置信度进度条可视化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Lightbox 大图查看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640px 响应式断点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卡片入场动画 + hover 效果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Android 客户端</a:t>
            </a:r>
            <a:endParaRPr sz="1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03520" cy="3931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937760" cy="36576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WebView 封装 + JsBridge 通信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4 个 Activity：闪屏/配网/主界面/设置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ZXing 扫码（无 Google Play 依赖）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网络自动扫描发现（9 个子网段）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onShowFileChooser 文件选择回调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支持相机拍照 + 图片选择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SwipeRefreshLayout 下拉刷新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Edge-to-Edge 全面屏适配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minSdk 26 / targetSdk 34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  <a:p>
            <a:pPr algn="l">
              <a:spcAft>
                <a:spcPts val="780"/>
              </a:spcAft>
            </a:pPr>
            <a:r>
              <a:rPr sz="130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• Gradle Kotlin DSL 构建</a:t>
            </a:r>
            <a:endParaRPr sz="130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验收测试结果</a:t>
            </a:r>
            <a:endParaRPr sz="2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828800" cy="32004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多人脸采集素材自动化清洗系统 · 第五组答辩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10 / 12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0040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6/6</a:t>
            </a:r>
            <a:endParaRPr sz="7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全部通过</a:t>
            </a:r>
            <a:endParaRPr sz="18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0">
                <a:solidFill>
                  <a:srgbClr val="D0F0E0"/>
                </a:solidFill>
                <a:latin typeface="Calibri" panose="020F0502020204030204"/>
                <a:ea typeface="微软雅黑" panose="020B0503020204020204" charset="-122"/>
              </a:rPr>
              <a:t>验收测试用例</a:t>
            </a:r>
            <a:endParaRPr sz="1200" b="0">
              <a:solidFill>
                <a:srgbClr val="D0F0E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0" y="14630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测试用例详情</a:t>
            </a:r>
            <a:endParaRPr sz="16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0" y="1965960"/>
            <a:ext cx="7498079" cy="41148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01168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用例编号</a:t>
            </a:r>
            <a:endParaRPr sz="11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77840" y="201168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测试场景</a:t>
            </a:r>
            <a:endParaRPr sz="11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06640" y="2011680"/>
            <a:ext cx="2103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检测结果</a:t>
            </a:r>
            <a:endParaRPr sz="11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731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状态</a:t>
            </a:r>
            <a:endParaRPr sz="11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332720" y="201168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耗时</a:t>
            </a:r>
            <a:endParaRPr sz="11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14800" y="2423160"/>
            <a:ext cx="7498079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468879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TC-001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77840" y="2468879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五座位图1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06640" y="2468879"/>
            <a:ext cx="2103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5人5座位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509760" y="2468879"/>
            <a:ext cx="731520" cy="3200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468879"/>
            <a:ext cx="731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PASS</a:t>
            </a:r>
            <a:endParaRPr sz="1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332720" y="2468879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6.7s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114800" y="2926080"/>
            <a:ext cx="749807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297180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TC-002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77840" y="297180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五座位图2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06640" y="2971800"/>
            <a:ext cx="2103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5人5座位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509760" y="2971800"/>
            <a:ext cx="731520" cy="3200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2971800"/>
            <a:ext cx="731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PASS</a:t>
            </a:r>
            <a:endParaRPr sz="1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332720" y="297180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0.3s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114800" y="3429000"/>
            <a:ext cx="7498079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34747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TC-003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77840" y="347472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批量图1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06640" y="3474720"/>
            <a:ext cx="2103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2人(后排左/右)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509760" y="3474720"/>
            <a:ext cx="731520" cy="3200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3474720"/>
            <a:ext cx="731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PASS</a:t>
            </a:r>
            <a:endParaRPr sz="1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332720" y="347472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0.2s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114800" y="3931920"/>
            <a:ext cx="749807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3977639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TC-004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77840" y="3977639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批量图2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06640" y="3977639"/>
            <a:ext cx="2103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3人(后排左/中/右)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509760" y="3977639"/>
            <a:ext cx="731520" cy="3200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3977639"/>
            <a:ext cx="731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PASS</a:t>
            </a:r>
            <a:endParaRPr sz="1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332720" y="3977639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0.2s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114800" y="4434840"/>
            <a:ext cx="7498079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4480559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TC-005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77840" y="4480559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边界图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406640" y="4480559"/>
            <a:ext cx="2103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5人(全座位)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509760" y="4480559"/>
            <a:ext cx="731520" cy="3200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4480559"/>
            <a:ext cx="731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PASS</a:t>
            </a:r>
            <a:endParaRPr sz="1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332720" y="4480559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0.2s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114800" y="4937760"/>
            <a:ext cx="749807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498348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TC-006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577840" y="4983480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批量6张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06640" y="4983480"/>
            <a:ext cx="2103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 panose="020F0502020204030204"/>
                <a:ea typeface="微软雅黑" panose="020B0503020204020204" charset="-122"/>
              </a:rPr>
              <a:t>20人(全座位)</a:t>
            </a:r>
            <a:endParaRPr sz="1100" b="0">
              <a:solidFill>
                <a:srgbClr val="1E293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509760" y="4983480"/>
            <a:ext cx="731520" cy="3200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60" y="4983480"/>
            <a:ext cx="731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PASS</a:t>
            </a:r>
            <a:endParaRPr sz="10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332720" y="498348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1.2s</a:t>
            </a:r>
            <a:endParaRPr sz="11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14800" y="55778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 panose="020F0502020204030204"/>
                <a:ea typeface="微软雅黑" panose="020B0503020204020204" charset="-122"/>
              </a:rPr>
              <a:t>测试覆盖五座位图、批量图、边界图，全部 PASS</a:t>
            </a:r>
            <a:endParaRPr sz="1200" b="1">
              <a:solidFill>
                <a:srgbClr val="10B98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8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创新点与项目特色</a:t>
            </a:r>
            <a:endParaRPr sz="28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828800" cy="32004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多人脸采集素材自动化清洗系统 · 第五组答辩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11 / 12</a:t>
            </a:r>
            <a:endParaRPr sz="9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09728" cy="1417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7276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双后端 Fallback</a:t>
            </a:r>
            <a:endParaRPr sz="16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 panose="020F0502020204030204"/>
                <a:ea typeface="微软雅黑" panose="020B0503020204020204" charset="-122"/>
              </a:rPr>
              <a:t>YOLOv8 + Haar / ArcFace + 直方图</a:t>
            </a:r>
            <a:endParaRPr sz="1200" b="1">
              <a:solidFill>
                <a:srgbClr val="3B82F6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任何环境均可运行，无 GPU 也能工作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F59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109728" cy="141732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7276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自适应座位分类</a:t>
            </a:r>
            <a:endParaRPr sz="16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1">
                <a:solidFill>
                  <a:srgbClr val="F5971B"/>
                </a:solidFill>
                <a:latin typeface="Calibri" panose="020F0502020204030204"/>
                <a:ea typeface="微软雅黑" panose="020B0503020204020204" charset="-122"/>
              </a:rPr>
              <a:t>规则引擎 + K-means 聚类</a:t>
            </a:r>
            <a:endParaRPr sz="1200" b="1">
              <a:solidFill>
                <a:srgbClr val="F5971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无需训练模型，可解释、轻量部署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063240"/>
            <a:ext cx="109728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17296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跨平台中文标注</a:t>
            </a:r>
            <a:endParaRPr sz="16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35661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 panose="020F0502020204030204"/>
                <a:ea typeface="微软雅黑" panose="020B0503020204020204" charset="-122"/>
              </a:rPr>
              <a:t>PIL + 多字体查找链</a:t>
            </a:r>
            <a:endParaRPr sz="1200" b="1">
              <a:solidFill>
                <a:srgbClr val="10B981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59" y="39319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OpenCV 不支持中文的优雅解决方案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17920" y="30632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102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063240"/>
            <a:ext cx="109728" cy="141732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17296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智能配网系统</a:t>
            </a:r>
            <a:endParaRPr sz="16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扫描 + 扫码 + 手动 3 种方式</a:t>
            </a:r>
            <a:endParaRPr sz="12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2240" y="39319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Android 客户端自动发现后端服务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46634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477316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数据管理工具链</a:t>
            </a:r>
            <a:endParaRPr sz="16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59" y="5166359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 panose="020F0502020204030204"/>
                <a:ea typeface="微软雅黑" panose="020B0503020204020204" charset="-122"/>
              </a:rPr>
              <a:t>SHA256 去重 + pHash 近重复检测</a:t>
            </a:r>
            <a:endParaRPr sz="1200" b="1">
              <a:solidFill>
                <a:srgbClr val="EF444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59" y="55321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两阶段安全改名 + 自动化验收测试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17920" y="46634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663440"/>
            <a:ext cx="109728" cy="1417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77316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 panose="020F0502020204030204"/>
                <a:ea typeface="微软雅黑" panose="020B0503020204020204" charset="-122"/>
              </a:rPr>
              <a:t>三端完整覆盖</a:t>
            </a:r>
            <a:endParaRPr sz="1600" b="1">
              <a:solidFill>
                <a:srgbClr val="102A54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2240" y="5166359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 panose="020F0502020204030204"/>
                <a:ea typeface="微软雅黑" panose="020B0503020204020204" charset="-122"/>
              </a:rPr>
              <a:t>Web + Android + 生产部署</a:t>
            </a:r>
            <a:endParaRPr sz="1200" b="1">
              <a:solidFill>
                <a:srgbClr val="3B82F6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92240" y="55321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 panose="020F0502020204030204"/>
                <a:ea typeface="微软雅黑" panose="020B0503020204020204" charset="-122"/>
              </a:rPr>
              <a:t>Nginx 反向代理 + systemd 守护</a:t>
            </a:r>
            <a:endParaRPr sz="1200" b="0">
              <a:solidFill>
                <a:srgbClr val="64748B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9601200" y="4572000"/>
            <a:ext cx="2590495" cy="2286000"/>
          </a:xfrm>
          <a:prstGeom prst="rtTriangl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 panose="020F0502020204030204"/>
                <a:ea typeface="微软雅黑" panose="020B0503020204020204" charset="-122"/>
              </a:rPr>
              <a:t>感谢聆听</a:t>
            </a:r>
            <a:endParaRPr sz="5200" b="1">
              <a:solidFill>
                <a:srgbClr val="FFFFFF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3327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200" b="0">
                <a:solidFill>
                  <a:srgbClr val="3B82F6"/>
                </a:solidFill>
                <a:latin typeface="Calibri" panose="020F0502020204030204"/>
                <a:ea typeface="微软雅黑" panose="020B0503020204020204" charset="-122"/>
              </a:rPr>
              <a:t>彭仁希 · 王启炀 · 余野 · 于枫硕 · 侯贺升 · 吴迪</a:t>
            </a:r>
            <a:endParaRPr sz="1200" b="0">
              <a:solidFill>
                <a:srgbClr val="3B82F6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3285</Words>
  <Application>WPS 演示</Application>
  <PresentationFormat>On-screen Show (4:3)</PresentationFormat>
  <Paragraphs>513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夜之影</cp:lastModifiedBy>
  <cp:revision>3</cp:revision>
  <dcterms:created xsi:type="dcterms:W3CDTF">2013-01-27T09:14:00Z</dcterms:created>
  <dcterms:modified xsi:type="dcterms:W3CDTF">2026-07-10T02:38:25Z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F24489BCA7D44F03B3E6BBDDADF1394E_13</vt:lpwstr>
  </property>
  <property fmtid="{D5CDD505-2E9C-101B-9397-08002B2CF9AE}" pid="3" name="KSOProductBuildVer">
    <vt:lpwstr>2052-12.1.0.26895</vt:lpwstr>
  </property>
</Properties>
</file>